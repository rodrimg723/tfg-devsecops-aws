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Poppins"/>
      <p:regular r:id="rId12"/>
      <p:bold r:id="rId13"/>
      <p:italic r:id="rId14"/>
      <p:boldItalic r:id="rId15"/>
    </p:embeddedFont>
    <p:embeddedFont>
      <p:font typeface="Poppins Light"/>
      <p:regular r:id="rId16"/>
      <p:bold r:id="rId17"/>
      <p:italic r:id="rId18"/>
      <p:boldItalic r:id="rId19"/>
    </p:embeddedFont>
    <p:embeddedFont>
      <p:font typeface="Poppins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22" Type="http://schemas.openxmlformats.org/officeDocument/2006/relationships/font" Target="fonts/PoppinsSemiBold-italic.fntdata"/><Relationship Id="rId10" Type="http://schemas.openxmlformats.org/officeDocument/2006/relationships/slide" Target="slides/slide4.xml"/><Relationship Id="rId21" Type="http://schemas.openxmlformats.org/officeDocument/2006/relationships/font" Target="fonts/PoppinsSemiBold-bold.fntdata"/><Relationship Id="rId13" Type="http://schemas.openxmlformats.org/officeDocument/2006/relationships/font" Target="fonts/Poppins-bold.fntdata"/><Relationship Id="rId12" Type="http://schemas.openxmlformats.org/officeDocument/2006/relationships/font" Target="fonts/Poppins-regular.fntdata"/><Relationship Id="rId23" Type="http://schemas.openxmlformats.org/officeDocument/2006/relationships/font" Target="fonts/PoppinsSemi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Poppins-boldItalic.fntdata"/><Relationship Id="rId14" Type="http://schemas.openxmlformats.org/officeDocument/2006/relationships/font" Target="fonts/Poppins-italic.fntdata"/><Relationship Id="rId17" Type="http://schemas.openxmlformats.org/officeDocument/2006/relationships/font" Target="fonts/PoppinsLight-bold.fntdata"/><Relationship Id="rId16" Type="http://schemas.openxmlformats.org/officeDocument/2006/relationships/font" Target="fonts/PoppinsLight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PoppinsLight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79a4c1cfc6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379a4c1cfc6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79a4c1cfc6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79a4c1cfc6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79a4c1cfc6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79a4c1cfc6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616014dd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616014dd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9a4c1cfc6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9a4c1cfc6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 type="title">
  <p:cSld name="TITLE">
    <p:bg>
      <p:bgPr>
        <a:solidFill>
          <a:schemeClr val="lt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seccion" type="secHead">
  <p:cSld name="SECTION_HEADER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e" type="tx">
  <p:cSld name="TITLE_AND_BODY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Blanco">
  <p:cSld name="5. Blanco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bg>
      <p:bgPr>
        <a:solidFill>
          <a:schemeClr val="lt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1" title="portrait-of-happy-college-student-in-the-classroom-2024-12-13-17-08-26-utc.jpg"/>
          <p:cNvPicPr preferRelativeResize="0"/>
          <p:nvPr/>
        </p:nvPicPr>
        <p:blipFill rotWithShape="1">
          <a:blip r:embed="rId3">
            <a:alphaModFix/>
          </a:blip>
          <a:srcRect b="6247" l="0" r="0" t="6247"/>
          <a:stretch/>
        </p:blipFill>
        <p:spPr>
          <a:xfrm>
            <a:off x="0" y="-9300"/>
            <a:ext cx="9144003" cy="533309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1"/>
          <p:cNvSpPr/>
          <p:nvPr/>
        </p:nvSpPr>
        <p:spPr>
          <a:xfrm>
            <a:off x="-73025" y="-9300"/>
            <a:ext cx="9144000" cy="5333100"/>
          </a:xfrm>
          <a:prstGeom prst="rect">
            <a:avLst/>
          </a:prstGeom>
          <a:solidFill>
            <a:srgbClr val="152A1D">
              <a:alpha val="6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1"/>
          <p:cNvSpPr/>
          <p:nvPr/>
        </p:nvSpPr>
        <p:spPr>
          <a:xfrm rot="10800000">
            <a:off x="7782000" y="367900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28575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" name="Google Shape;27;p11"/>
          <p:cNvSpPr/>
          <p:nvPr/>
        </p:nvSpPr>
        <p:spPr>
          <a:xfrm>
            <a:off x="381075" y="3949313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28575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" name="Google Shape;28;p11"/>
          <p:cNvSpPr txBox="1"/>
          <p:nvPr/>
        </p:nvSpPr>
        <p:spPr>
          <a:xfrm>
            <a:off x="432325" y="1133403"/>
            <a:ext cx="8133300" cy="304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" rtl="0" algn="l">
              <a:lnSpc>
                <a:spcPct val="100000"/>
              </a:lnSpc>
              <a:spcBef>
                <a:spcPts val="700"/>
              </a:spcBef>
              <a:spcAft>
                <a:spcPts val="10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s" sz="6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Portal Web Interno de Gestión de Incidencias</a:t>
            </a:r>
            <a:endParaRPr i="0" sz="62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9" name="Google Shape;29;p11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5100" y="367900"/>
            <a:ext cx="2473800" cy="3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/>
          <p:nvPr/>
        </p:nvSpPr>
        <p:spPr>
          <a:xfrm>
            <a:off x="0" y="0"/>
            <a:ext cx="1938900" cy="51435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00E5"/>
              </a:solidFill>
            </a:endParaRPr>
          </a:p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3492150" y="97600"/>
            <a:ext cx="686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7">
                <a:solidFill>
                  <a:srgbClr val="E6945A"/>
                </a:solidFill>
              </a:rPr>
              <a:t>01</a:t>
            </a:r>
            <a:endParaRPr b="1" sz="3037">
              <a:solidFill>
                <a:srgbClr val="E6945A"/>
              </a:solidFill>
            </a:endParaRPr>
          </a:p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3492150" y="861825"/>
            <a:ext cx="686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7">
                <a:solidFill>
                  <a:srgbClr val="E6945A"/>
                </a:solidFill>
              </a:rPr>
              <a:t>02</a:t>
            </a:r>
            <a:endParaRPr b="1" sz="3037">
              <a:solidFill>
                <a:srgbClr val="E6945A"/>
              </a:solidFill>
            </a:endParaRPr>
          </a:p>
        </p:txBody>
      </p:sp>
      <p:sp>
        <p:nvSpPr>
          <p:cNvPr id="37" name="Google Shape;37;p12"/>
          <p:cNvSpPr txBox="1"/>
          <p:nvPr>
            <p:ph idx="3" type="body"/>
          </p:nvPr>
        </p:nvSpPr>
        <p:spPr>
          <a:xfrm>
            <a:off x="3492150" y="1780063"/>
            <a:ext cx="6861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7">
                <a:solidFill>
                  <a:srgbClr val="E6945A"/>
                </a:solidFill>
              </a:rPr>
              <a:t>03</a:t>
            </a:r>
            <a:endParaRPr b="1" sz="3037">
              <a:solidFill>
                <a:srgbClr val="E6945A"/>
              </a:solidFill>
            </a:endParaRPr>
          </a:p>
        </p:txBody>
      </p:sp>
      <p:sp>
        <p:nvSpPr>
          <p:cNvPr id="38" name="Google Shape;38;p12"/>
          <p:cNvSpPr txBox="1"/>
          <p:nvPr/>
        </p:nvSpPr>
        <p:spPr>
          <a:xfrm>
            <a:off x="202350" y="134725"/>
            <a:ext cx="2074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lt1"/>
                </a:solidFill>
              </a:rPr>
              <a:t>Índice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39" name="Google Shape;39;p12"/>
          <p:cNvSpPr txBox="1"/>
          <p:nvPr>
            <p:ph type="title"/>
          </p:nvPr>
        </p:nvSpPr>
        <p:spPr>
          <a:xfrm>
            <a:off x="4297600" y="954364"/>
            <a:ext cx="23940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</a:t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0" name="Google Shape;40;p12"/>
          <p:cNvSpPr txBox="1"/>
          <p:nvPr>
            <p:ph idx="4" type="title"/>
          </p:nvPr>
        </p:nvSpPr>
        <p:spPr>
          <a:xfrm>
            <a:off x="4178250" y="1622550"/>
            <a:ext cx="23940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 </a:t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1" name="Google Shape;41;p12"/>
          <p:cNvSpPr txBox="1"/>
          <p:nvPr>
            <p:ph idx="5" type="body"/>
          </p:nvPr>
        </p:nvSpPr>
        <p:spPr>
          <a:xfrm>
            <a:off x="3492139" y="2523210"/>
            <a:ext cx="686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7">
                <a:solidFill>
                  <a:srgbClr val="E6945A"/>
                </a:solidFill>
              </a:rPr>
              <a:t>04</a:t>
            </a:r>
            <a:endParaRPr b="1" sz="3037">
              <a:solidFill>
                <a:srgbClr val="E6945A"/>
              </a:solidFill>
            </a:endParaRPr>
          </a:p>
        </p:txBody>
      </p:sp>
      <p:sp>
        <p:nvSpPr>
          <p:cNvPr id="42" name="Google Shape;42;p12"/>
          <p:cNvSpPr txBox="1"/>
          <p:nvPr>
            <p:ph idx="6" type="body"/>
          </p:nvPr>
        </p:nvSpPr>
        <p:spPr>
          <a:xfrm>
            <a:off x="3486439" y="3362428"/>
            <a:ext cx="686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7">
                <a:solidFill>
                  <a:srgbClr val="E6945A"/>
                </a:solidFill>
              </a:rPr>
              <a:t>05</a:t>
            </a:r>
            <a:endParaRPr b="1" sz="3037">
              <a:solidFill>
                <a:srgbClr val="E6945A"/>
              </a:solidFill>
            </a:endParaRPr>
          </a:p>
        </p:txBody>
      </p:sp>
      <p:sp>
        <p:nvSpPr>
          <p:cNvPr id="43" name="Google Shape;43;p12"/>
          <p:cNvSpPr txBox="1"/>
          <p:nvPr>
            <p:ph idx="7" type="title"/>
          </p:nvPr>
        </p:nvSpPr>
        <p:spPr>
          <a:xfrm>
            <a:off x="4178250" y="2495614"/>
            <a:ext cx="23940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4" name="Google Shape;44;p12"/>
          <p:cNvSpPr txBox="1"/>
          <p:nvPr>
            <p:ph idx="8" type="title"/>
          </p:nvPr>
        </p:nvSpPr>
        <p:spPr>
          <a:xfrm>
            <a:off x="4172550" y="3300250"/>
            <a:ext cx="355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5" name="Google Shape;45;p12"/>
          <p:cNvSpPr txBox="1"/>
          <p:nvPr>
            <p:ph idx="9" type="body"/>
          </p:nvPr>
        </p:nvSpPr>
        <p:spPr>
          <a:xfrm>
            <a:off x="3492150" y="4134200"/>
            <a:ext cx="6861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7">
                <a:solidFill>
                  <a:srgbClr val="E6945A"/>
                </a:solidFill>
              </a:rPr>
              <a:t>06</a:t>
            </a:r>
            <a:endParaRPr b="1" sz="3037">
              <a:solidFill>
                <a:srgbClr val="E6945A"/>
              </a:solidFill>
            </a:endParaRPr>
          </a:p>
        </p:txBody>
      </p:sp>
      <p:sp>
        <p:nvSpPr>
          <p:cNvPr id="46" name="Google Shape;46;p12"/>
          <p:cNvSpPr txBox="1"/>
          <p:nvPr>
            <p:ph idx="13" type="title"/>
          </p:nvPr>
        </p:nvSpPr>
        <p:spPr>
          <a:xfrm>
            <a:off x="4172550" y="4054741"/>
            <a:ext cx="239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7" name="Google Shape;47;p12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2"/>
          <p:cNvSpPr txBox="1"/>
          <p:nvPr>
            <p:ph idx="14" type="title"/>
          </p:nvPr>
        </p:nvSpPr>
        <p:spPr>
          <a:xfrm>
            <a:off x="4297600" y="178739"/>
            <a:ext cx="23940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Contexto</a:t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949B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3">
            <a:alphaModFix/>
          </a:blip>
          <a:srcRect b="12800" l="0" r="0" t="0"/>
          <a:stretch/>
        </p:blipFill>
        <p:spPr>
          <a:xfrm>
            <a:off x="49775" y="19050"/>
            <a:ext cx="9144003" cy="53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/>
          <p:nvPr/>
        </p:nvSpPr>
        <p:spPr>
          <a:xfrm>
            <a:off x="49775" y="0"/>
            <a:ext cx="9144000" cy="5333100"/>
          </a:xfrm>
          <a:prstGeom prst="rect">
            <a:avLst/>
          </a:prstGeom>
          <a:solidFill>
            <a:srgbClr val="152A1D">
              <a:alpha val="529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756475" y="3450500"/>
            <a:ext cx="53166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Contexto</a:t>
            </a:r>
            <a:endParaRPr sz="3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56475" y="2384334"/>
            <a:ext cx="30573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1" sz="8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909273" y="4590631"/>
            <a:ext cx="647100" cy="0"/>
          </a:xfrm>
          <a:prstGeom prst="straightConnector1">
            <a:avLst/>
          </a:prstGeom>
          <a:noFill/>
          <a:ln cap="flat" cmpd="sng" w="76200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" name="Google Shape;58;p13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8650" y="47455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578775" y="230775"/>
            <a:ext cx="56799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01 TFG ASIR2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703400" y="1593450"/>
            <a:ext cx="7448400" cy="25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/>
              <a:t>Contexto:</a:t>
            </a:r>
            <a:r>
              <a:rPr lang="es" sz="1100"/>
              <a:t> Las empresas necesitan herramientas internas para gestionar incidencias técnicas de forma ordenada.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/>
              <a:t>Problema detectado:</a:t>
            </a:r>
            <a:r>
              <a:rPr lang="es" sz="1100"/>
              <a:t> Sin un sistema centralizado, el soporte técnico se gestiona por email o de forma caótica.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/>
              <a:t>Motivación:</a:t>
            </a:r>
            <a:r>
              <a:rPr lang="es" sz="1100"/>
              <a:t> Aplicar los conocimientos del ciclo en redes y sistemas con una herramienta real y útil.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una empresa si no se tiene un sistema centralizado, o herramientas capaces de gestionar incidencias </a:t>
            </a:r>
            <a:r>
              <a:rPr lang="es"/>
              <a:t>técnicas</a:t>
            </a:r>
            <a:r>
              <a:rPr lang="es"/>
              <a:t>, el resultado podría ser tan </a:t>
            </a:r>
            <a:r>
              <a:rPr lang="es"/>
              <a:t>incómodo</a:t>
            </a:r>
            <a:r>
              <a:rPr lang="es"/>
              <a:t> como gestionar el soporte </a:t>
            </a:r>
            <a:r>
              <a:rPr lang="es"/>
              <a:t>técnico</a:t>
            </a:r>
            <a:r>
              <a:rPr lang="es"/>
              <a:t> por sistema email. </a:t>
            </a:r>
            <a:endParaRPr/>
          </a:p>
        </p:txBody>
      </p:sp>
      <p:pic>
        <p:nvPicPr>
          <p:cNvPr id="67" name="Google Shape;67;p14" title="image-removebg-preview (2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2150" y="3258800"/>
            <a:ext cx="1966225" cy="196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 title="female-college-student-looking-back-at-camera-walk-2025-01-10-03-12-56-utc.jpg"/>
          <p:cNvPicPr preferRelativeResize="0"/>
          <p:nvPr/>
        </p:nvPicPr>
        <p:blipFill rotWithShape="1">
          <a:blip r:embed="rId3">
            <a:alphaModFix/>
          </a:blip>
          <a:srcRect b="6247" l="0" r="0" t="6247"/>
          <a:stretch/>
        </p:blipFill>
        <p:spPr>
          <a:xfrm>
            <a:off x="0" y="-9300"/>
            <a:ext cx="9144003" cy="53330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0" y="-9300"/>
            <a:ext cx="9144000" cy="5333100"/>
          </a:xfrm>
          <a:prstGeom prst="rect">
            <a:avLst/>
          </a:prstGeom>
          <a:solidFill>
            <a:srgbClr val="152A1D">
              <a:alpha val="6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 rot="10800000">
            <a:off x="7782000" y="367900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28575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" name="Google Shape;75;p15"/>
          <p:cNvSpPr/>
          <p:nvPr/>
        </p:nvSpPr>
        <p:spPr>
          <a:xfrm>
            <a:off x="381075" y="3949313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28575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76" name="Google Shape;76;p15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7638" y="2331025"/>
            <a:ext cx="3968725" cy="4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52A1D"/>
      </a:dk1>
      <a:lt1>
        <a:srgbClr val="FFFFFF"/>
      </a:lt1>
      <a:dk2>
        <a:srgbClr val="595959"/>
      </a:dk2>
      <a:lt2>
        <a:srgbClr val="EEEEEE"/>
      </a:lt2>
      <a:accent1>
        <a:srgbClr val="E6945A"/>
      </a:accent1>
      <a:accent2>
        <a:srgbClr val="212121"/>
      </a:accent2>
      <a:accent3>
        <a:srgbClr val="78909C"/>
      </a:accent3>
      <a:accent4>
        <a:srgbClr val="FFAB40"/>
      </a:accent4>
      <a:accent5>
        <a:srgbClr val="E6945A"/>
      </a:accent5>
      <a:accent6>
        <a:srgbClr val="E6945A"/>
      </a:accent6>
      <a:hlink>
        <a:srgbClr val="E694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