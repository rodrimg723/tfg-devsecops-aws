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</p:sldIdLst>
  <p:sldSz cy="5143500" cx="9144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Poppins Light"/>
      <p:regular r:id="rId16"/>
      <p:bold r:id="rId17"/>
      <p:italic r:id="rId18"/>
      <p:boldItalic r:id="rId19"/>
    </p:embeddedFont>
    <p:embeddedFont>
      <p:font typeface="Poppi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Poppins-regular.fntdata"/><Relationship Id="rId13" Type="http://schemas.openxmlformats.org/officeDocument/2006/relationships/font" Target="fonts/Poppins-bold.fntdata"/><Relationship Id="rId14" Type="http://schemas.openxmlformats.org/officeDocument/2006/relationships/font" Target="fonts/Poppins-italic.fntdata"/><Relationship Id="rId15" Type="http://schemas.openxmlformats.org/officeDocument/2006/relationships/font" Target="fonts/Poppins-boldItalic.fntdata"/><Relationship Id="rId16" Type="http://schemas.openxmlformats.org/officeDocument/2006/relationships/font" Target="fonts/PoppinsLight-regular.fntdata"/><Relationship Id="rId17" Type="http://schemas.openxmlformats.org/officeDocument/2006/relationships/font" Target="fonts/PoppinsLight-bold.fntdata"/><Relationship Id="rId18" Type="http://schemas.openxmlformats.org/officeDocument/2006/relationships/font" Target="fonts/PoppinsLight-italic.fntdata"/><Relationship Id="rId19" Type="http://schemas.openxmlformats.org/officeDocument/2006/relationships/font" Target="fonts/PoppinsLight-boldItalic.fntdata"/><Relationship Id="rId20" Type="http://schemas.openxmlformats.org/officeDocument/2006/relationships/font" Target="fonts/PoppinsSemiBold-regular.fntdata"/><Relationship Id="rId21" Type="http://schemas.openxmlformats.org/officeDocument/2006/relationships/font" Target="fonts/PoppinsSemiBold-bold.fntdata"/><Relationship Id="rId22" Type="http://schemas.openxmlformats.org/officeDocument/2006/relationships/font" Target="fonts/PoppinsSemiBold-italic.fntdata"/><Relationship Id="rId23" Type="http://schemas.openxmlformats.org/officeDocument/2006/relationships/font" Target="fonts/PoppinsSemiBold-boldItalic.fntdata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9a4c1cfc6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79a4c1cfc6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9a4c1cfc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79a4c1cfc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79a4c1cfc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79a4c1cfc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616014dd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616014d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a4c1cfc6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a4c1cfc6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on" type="secHead">
  <p:cSld name="SECTION_HEADER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" type="tx">
  <p:cSld name="TITLE_AND_BODY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Blanco">
  <p:cSld name="5. Blanco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chemeClr val="lt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1" title="portrait-of-happy-college-student-in-the-classroom-2024-12-13-17-08-26-utc.jpg"/>
          <p:cNvPicPr preferRelativeResize="0"/>
          <p:nvPr/>
        </p:nvPicPr>
        <p:blipFill rotWithShape="1">
          <a:blip r:embed="rId3">
            <a:alphaModFix/>
          </a:blip>
          <a:srcRect b="6247" l="0" r="0" t="6247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/>
          <p:nvPr/>
        </p:nvSpPr>
        <p:spPr>
          <a:xfrm>
            <a:off x="-73025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1"/>
          <p:cNvSpPr/>
          <p:nvPr/>
        </p:nvSpPr>
        <p:spPr>
          <a:xfrm rot="10800000">
            <a:off x="7782000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  <p:txBody>
          <a:bodyPr/>
          <a:p/>
        </p:txBody>
      </p:sp>
      <p:sp>
        <p:nvSpPr>
          <p:cNvPr id="27" name="Google Shape;27;p11"/>
          <p:cNvSpPr/>
          <p:nvPr/>
        </p:nvSpPr>
        <p:spPr>
          <a:xfrm>
            <a:off x="381075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  <p:txBody>
          <a:bodyPr/>
          <a:p/>
        </p:txBody>
      </p:sp>
      <p:sp>
        <p:nvSpPr>
          <p:cNvPr id="28" name="Google Shape;28;p11"/>
          <p:cNvSpPr txBox="1"/>
          <p:nvPr/>
        </p:nvSpPr>
        <p:spPr>
          <a:xfrm>
            <a:off x="432325" y="1133403"/>
            <a:ext cx="81333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800"/>
              <a:t>Infraestructura Cloud Automatizada y Segura (DevSecOps)</a:t>
            </a:r>
          </a:p>
        </p:txBody>
      </p:sp>
      <p:pic>
        <p:nvPicPr>
          <p:cNvPr id="29" name="Google Shape;29;p1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100" y="367900"/>
            <a:ext cx="2473800" cy="3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1. Introducción al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### De "Mascotas" a "Ganado"</a:t>
            </a:r>
          </a:p>
          <a:p>
            <a:r>
              <a:rPr sz="2000"/>
              <a:t>- El paradigma ha cambiado: los servidores son recursos **efímeros y reemplazables**.</a:t>
            </a:r>
          </a:p>
          <a:p>
            <a:r>
              <a:rPr sz="2000"/>
              <a:t>- **DevSecOps:** Integración de la seguridad desde el inicio del ciclo de vida del software.</a:t>
            </a:r>
          </a:p>
          <a:p>
            <a:r>
              <a:rPr sz="2000"/>
              <a:t>### Escenario Real</a:t>
            </a:r>
          </a:p>
          <a:p>
            <a:r>
              <a:rPr sz="2000"/>
              <a:t>- Despliegue de una aplicación web crítica en la nube pública (AWS).</a:t>
            </a:r>
          </a:p>
          <a:p>
            <a:r>
              <a:rPr sz="2000"/>
              <a:t>- Objetivos: Rapidez, repetibilidad, seguridad y minimizar el error humano.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1. Introducción al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### De "Mascotas" a "Ganado"</a:t>
            </a:r>
          </a:p>
          <a:p>
            <a:r>
              <a:rPr sz="2000"/>
              <a:t>- El paradigma ha cambiado: los servidores son recursos **efímeros y reemplazables**.</a:t>
            </a:r>
          </a:p>
          <a:p>
            <a:r>
              <a:rPr sz="2000"/>
              <a:t>- **DevSecOps:** Integración de la seguridad desde el inicio del ciclo de vida del software.</a:t>
            </a:r>
          </a:p>
          <a:p>
            <a:r>
              <a:rPr sz="2000"/>
              <a:t>### Escenario Real</a:t>
            </a:r>
          </a:p>
          <a:p>
            <a:r>
              <a:rPr sz="2000"/>
              <a:t>- Despliegue de una aplicación web crítica en la nube pública (AWS).</a:t>
            </a:r>
          </a:p>
          <a:p>
            <a:r>
              <a:rPr sz="2000"/>
              <a:t>- Objetivos: Rapidez, repetibilidad, seguridad y minimizar el error humano.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2. El Problema Detectado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El despliegue tradicional de infraestructura conlleva graves problemas:</a:t>
            </a:r>
          </a:p>
          <a:p>
            <a:r>
              <a:rPr sz="2000"/>
              <a:t>1. **Configuración manual (Drift):** Los servidores acaban siendo diferentes ("funciona en mi máquina").</a:t>
            </a:r>
          </a:p>
          <a:p>
            <a:r>
              <a:rPr sz="2000"/>
              <a:t>2. **Lentitud:** Provisionar un nuevo entorno lleva días.</a:t>
            </a:r>
          </a:p>
          <a:p>
            <a:r>
              <a:rPr sz="2000"/>
              <a:t>3. **Seguridad reactiva:** Servidores expuestos a internet con configuraciones por defecto (vulnerables desde el minuto cero).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2. El Problema Detectado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El despliegue tradicional de infraestructura conlleva graves problemas:</a:t>
            </a:r>
          </a:p>
          <a:p>
            <a:r>
              <a:rPr sz="2000"/>
              <a:t>1. **Configuración manual (Drift):** Los servidores acaban siendo diferentes ("funciona en mi máquina").</a:t>
            </a:r>
          </a:p>
          <a:p>
            <a:r>
              <a:rPr sz="2000"/>
              <a:t>2. **Lentitud:** Provisionar un nuevo entorno lleva días.</a:t>
            </a:r>
          </a:p>
          <a:p>
            <a:r>
              <a:rPr sz="2000"/>
              <a:t>3. **Seguridad reactiva:** Servidores expuestos a internet con configuraciones por defecto (vulnerables desde el minuto cero).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3. La Solución: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**Infraestructura como Código (IaC) y Seguridad Proactiva.**</a:t>
            </a:r>
          </a:p>
          <a:p>
            <a:r>
              <a:rPr sz="2000"/>
              <a:t>- Automatización del despliegue completo.</a:t>
            </a:r>
          </a:p>
          <a:p>
            <a:r>
              <a:rPr sz="2000"/>
              <a:t>- Capas de seguridad activa (WAF/IPS) por defecto.</a:t>
            </a:r>
          </a:p>
          <a:p>
            <a:r>
              <a:rPr sz="2000"/>
              <a:t>**Motivación:**  </a:t>
            </a:r>
          </a:p>
          <a:p>
            <a:r>
              <a:rPr sz="2000"/>
              <a:t>Culminación de conocimientos en ASIR (redes, sistemas, seguridad). Dominio de herramientas altamente demandadas como **Terraform** y **Docker**.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3. La Solución: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**Infraestructura como Código (IaC) y Seguridad Proactiva.**</a:t>
            </a:r>
          </a:p>
          <a:p>
            <a:r>
              <a:rPr sz="2000"/>
              <a:t>- Automatización del despliegue completo.</a:t>
            </a:r>
          </a:p>
          <a:p>
            <a:r>
              <a:rPr sz="2000"/>
              <a:t>- Capas de seguridad activa (WAF/IPS) por defecto.</a:t>
            </a:r>
          </a:p>
          <a:p>
            <a:r>
              <a:rPr sz="2000"/>
              <a:t>**Motivación:**  </a:t>
            </a:r>
          </a:p>
          <a:p>
            <a:r>
              <a:rPr sz="2000"/>
              <a:t>Culminación de conocimientos en ASIR (redes, sistemas, seguridad). Dominio de herramientas altamente demandadas como **Terraform** y **Docker**.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4. Objetivos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**Objetivo General:**  </a:t>
            </a:r>
          </a:p>
          <a:p>
            <a:r>
              <a:rPr sz="2000"/>
              <a:t>Diseñar, implementar y documentar una infraestructura de **Alta Disponibilidad y Seguridad** en AWS mediante código, resistente a caídas y ataques.</a:t>
            </a:r>
          </a:p>
          <a:p>
            <a:r>
              <a:rPr sz="2000"/>
              <a:t>**Objetivos Específicos:**</a:t>
            </a:r>
          </a:p>
          <a:p>
            <a:r>
              <a:rPr sz="2000"/>
              <a:t>1. **IaC:** Terraform para redes y servidores.</a:t>
            </a:r>
          </a:p>
          <a:p>
            <a:r>
              <a:rPr sz="2000"/>
              <a:t>2. **Configuración:** Ansible para provisionamiento.</a:t>
            </a:r>
          </a:p>
          <a:p>
            <a:r>
              <a:rPr sz="2000"/>
              <a:t>3. **Contenerización:** Docker / Docker Compose.</a:t>
            </a:r>
          </a:p>
          <a:p>
            <a:r>
              <a:rPr sz="2000"/>
              <a:t>4. **Seguridad:** CrowdSec (IPS colaborativo).</a:t>
            </a:r>
          </a:p>
          <a:p>
            <a:r>
              <a:rPr sz="2000"/>
              <a:t>5. **Observabilidad:** Prometheus + Grafana.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4. Objetivos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**Objetivo General:**  </a:t>
            </a:r>
          </a:p>
          <a:p>
            <a:r>
              <a:rPr sz="2000"/>
              <a:t>Diseñar, implementar y documentar una infraestructura de **Alta Disponibilidad y Seguridad** en AWS mediante código, resistente a caídas y ataques.</a:t>
            </a:r>
          </a:p>
          <a:p>
            <a:r>
              <a:rPr sz="2000"/>
              <a:t>**Objetivos Específicos:**</a:t>
            </a:r>
          </a:p>
          <a:p>
            <a:r>
              <a:rPr sz="2000"/>
              <a:t>1. **IaC:** Terraform para redes y servidores.</a:t>
            </a:r>
          </a:p>
          <a:p>
            <a:r>
              <a:rPr sz="2000"/>
              <a:t>2. **Configuración:** Ansible para provisionamiento.</a:t>
            </a:r>
          </a:p>
          <a:p>
            <a:r>
              <a:rPr sz="2000"/>
              <a:t>3. **Contenerización:** Docker / Docker Compose.</a:t>
            </a:r>
          </a:p>
          <a:p>
            <a:r>
              <a:rPr sz="2000"/>
              <a:t>4. **Seguridad:** CrowdSec (IPS colaborativo).</a:t>
            </a:r>
          </a:p>
          <a:p>
            <a:r>
              <a:rPr sz="2000"/>
              <a:t>5. **Observabilidad:** Prometheus + Grafana.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5. Alcance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El ciclo completo DevSecOps:</a:t>
            </a:r>
          </a:p>
          <a:p>
            <a:r>
              <a:rPr sz="2000"/>
              <a:t>- **Planificación:** Diseño de red y seguridad.</a:t>
            </a:r>
          </a:p>
          <a:p>
            <a:r>
              <a:rPr sz="2000"/>
              <a:t>- **Código:** Terraform y Ansible.</a:t>
            </a:r>
          </a:p>
          <a:p>
            <a:r>
              <a:rPr sz="2000"/>
              <a:t>- **Despliegue:** AWS Academy.</a:t>
            </a:r>
          </a:p>
          <a:p>
            <a:r>
              <a:rPr sz="2000"/>
              <a:t>- **Validación:** Pentesting y pruebas de estrés.</a:t>
            </a:r>
          </a:p>
          <a:p>
            <a:r>
              <a:rPr sz="2000"/>
              <a:t>*(Espacio reservado para diagramas o imágenes)*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6. Análisis: Elección de Tecnologías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Razones de la selección de nuestras herramientas principales:</a:t>
            </a:r>
          </a:p>
          <a:p>
            <a:r>
              <a:rPr sz="2000"/>
              <a:t>- **Nube:** AWS (Líder del mercado, robustez, créditos educativos).</a:t>
            </a:r>
          </a:p>
          <a:p>
            <a:r>
              <a:rPr sz="2000"/>
              <a:t>- **Aprovisionamiento:** Terraform (Agnóstico, frente a alternativas como CloudFormation).</a:t>
            </a:r>
          </a:p>
          <a:p>
            <a:r>
              <a:rPr sz="2000"/>
              <a:t>- **Orquestación:** Docker Compose (Ligero y más adecuado que Kubernetes para la magnitud de este despliegue).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7. Stack DevSecOps Seleccionado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| Tecnología | Rol | Justificación |</a:t>
            </a:r>
          </a:p>
          <a:p>
            <a:r>
              <a:rPr sz="2000"/>
              <a:t>| :--- | :--- | :--- |</a:t>
            </a:r>
          </a:p>
          <a:p>
            <a:r>
              <a:rPr sz="2000"/>
              <a:t>| **AWS** | Cloud | Estándar de la industria |</a:t>
            </a:r>
          </a:p>
          <a:p>
            <a:r>
              <a:rPr sz="2000"/>
              <a:t>| **Terraform** | IaC | Sintaxis declarativa (HCL) |</a:t>
            </a:r>
          </a:p>
          <a:p>
            <a:r>
              <a:rPr sz="2000"/>
              <a:t>| **Ansible** | Configuración | Agentless, idempotencia |</a:t>
            </a:r>
          </a:p>
          <a:p>
            <a:r>
              <a:rPr sz="2000"/>
              <a:t>| **Traefik** | Proxy Inverso | Nativo de Docker, SSL automático |</a:t>
            </a:r>
          </a:p>
          <a:p>
            <a:r>
              <a:rPr sz="2000"/>
              <a:t>| **CrowdSec** | IPS/Seguridad | Inteligencia colaborativa comunitaria |</a:t>
            </a:r>
          </a:p>
          <a:p>
            <a:r>
              <a:rPr sz="2000"/>
              <a:t>| **Grafana** | Monitorización | Integración nativa con Prometheus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8. Requisitos de la Infraestructura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- **Hardware:** Instancia EC2 `t2.small` (Ubuntu 22.04 LTS).</a:t>
            </a:r>
          </a:p>
          <a:p>
            <a:r>
              <a:rPr sz="2000"/>
              <a:t>- **Red:** VPC pública con Internet Gateway.</a:t>
            </a:r>
          </a:p>
          <a:p>
            <a:r>
              <a:rPr sz="2000"/>
              <a:t>- **Firewall (Security Groups en AWS):** </a:t>
            </a:r>
          </a:p>
          <a:p>
            <a:r>
              <a:rPr sz="2000"/>
              <a:t>  - Tráfico permitido ÚNICAMENTE en puertos 22 (SSH) y 80/443 (Web/HTTPS).</a:t>
            </a:r>
          </a:p>
          <a:p>
            <a:r>
              <a:rPr sz="2000"/>
              <a:t>- **Seguridad y Accesos:**</a:t>
            </a:r>
          </a:p>
          <a:p>
            <a:r>
              <a:rPr sz="2000"/>
              <a:t>  - SSH mediante clave pública (sin contraseña).</a:t>
            </a:r>
          </a:p>
          <a:p>
            <a:r>
              <a:rPr sz="2000"/>
              <a:t>  - Bloqueo automático de IP hostiles (Intrusiones/Escaneos).</a:t>
            </a:r>
          </a:p>
          <a:p>
            <a:r>
              <a:rPr sz="2000"/>
              <a:t>  - Certificados SSL válidos obligatorios (Let's Encrypt).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9. Planificación y Cronograma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*Duración: 8 semanas - Finalización: Abril 2026*</a:t>
            </a:r>
          </a:p>
          <a:p>
            <a:r>
              <a:rPr sz="2000"/>
              <a:t>1. **Semanas 1-2:** Investigación y diseño de arquitectura.</a:t>
            </a:r>
          </a:p>
          <a:p>
            <a:r>
              <a:rPr sz="2000"/>
              <a:t>2. **Semanas 3-4:** Desarrollo IaC (Terraform) para AWS.</a:t>
            </a:r>
          </a:p>
          <a:p>
            <a:r>
              <a:rPr sz="2000"/>
              <a:t>3. **Semanas 5-6:** Configuración y Contenedores (Ansible, Docker, Traefik, CrowdSec).</a:t>
            </a:r>
          </a:p>
          <a:p>
            <a:r>
              <a:rPr sz="2000"/>
              <a:t>4. **Semana 7:** Pruebas de estrés, pentesting y Observabilidad (Grafana).</a:t>
            </a:r>
          </a:p>
          <a:p>
            <a:r>
              <a:rPr sz="2000"/>
              <a:t>5. **Semana 8:** Documentación final (Memoria y presentación).</a:t>
            </a:r>
          </a:p>
          <a:p>
            <a:r>
              <a:rPr sz="2000"/>
              <a:t>*(Añadir aquí tu diagrama de Gantt)*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